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0"/>
            <a:ext cx="1097280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645920"/>
            <a:ext cx="73152" cy="2194560"/>
          </a:xfrm>
          <a:prstGeom prst="rect">
            <a:avLst/>
          </a:prstGeom>
          <a:solidFill>
            <a:srgbClr val="00C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AI DEPLOYMENT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294"/>
                </a:solidFill>
                <a:latin typeface="Calibri"/>
              </a:rPr>
              <a:t>2025 - 2027  |  Enterprise Fintech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BAA"/>
                </a:solidFill>
                <a:latin typeface="Calibri"/>
              </a:rPr>
              <a:t>Fortune 500 Financial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5029200"/>
            <a:ext cx="1097280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074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FF"/>
                </a:solidFill>
                <a:latin typeface="Calibri"/>
              </a:rPr>
              <a:t>60-85%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23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False Positive
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5074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FF"/>
                </a:solidFill>
                <a:latin typeface="Calibri"/>
              </a:rP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5623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CS Deflection
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5074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FF"/>
                </a:solidFill>
                <a:latin typeface="Calibri"/>
              </a:rPr>
              <a:t>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623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Lending Model
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074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AFF"/>
                </a:solidFill>
                <a:latin typeface="Calibri"/>
              </a:rPr>
              <a:t>2.3x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5623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  <a:latin typeface="Calibri"/>
              </a:rPr>
              <a:t>ROI in
13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8BAA"/>
                </a:solidFill>
                <a:latin typeface="Calibri"/>
              </a:rPr>
              <a:t>CONFIDENTIAL - 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The strategic imperative for AI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4008" cy="822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94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356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AI adoption in financial services is accelerating. Competitors are already deploying. This roadmap delivers structured, risk-managed deployment across three critical domains over 30 months.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64008" cy="822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94"/>
                </a:solidFill>
                <a:latin typeface="Calibri"/>
              </a:rPr>
              <a:t>Validated Business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4144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GEMMA research data confirms: fraud detection models reduce false positives 60-85%, customer service AI deflects 44% of contact volume, and AI-augmented lending outperforms FICO by 17 percentage points in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64008" cy="822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5468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94"/>
                </a:solidFill>
                <a:latin typeface="Calibri"/>
              </a:rPr>
              <a:t>Financial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4728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Modeled ROI of 2.3x on total investment with payback in 13 months. Cost avoidance, revenue protection, and operational efficiency combine to deliver material shareholder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64008" cy="822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94"/>
                </a:solidFill>
                <a:latin typeface="Calibri"/>
              </a:rPr>
              <a:t>Risk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5312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Three-phase deployment ensures regulatory alignment, model governance, and audit trails before scaling. Each phase gates on defined success metrics before proceeding.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Market forces and competitive pressure demand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38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00"/>
                </a:solidFill>
                <a:latin typeface="Calibri"/>
              </a:rPr>
              <a:t>Regulatory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Basel IV and SR 11-7 now explicitly address model risk for AI systems. Early movers who build governance frameworks now will have a compliance advantage.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0352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03520" cy="38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00"/>
                </a:solidFill>
                <a:latin typeface="Calibri"/>
              </a:rPr>
              <a:t>Competitive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Top 10 US banks have each committed $1B+ in AI investment for 2025-2026. Neo-banks are deploying AI-native credit decisioning at 10x lower cost per application.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30352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303520" cy="38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00"/>
                </a:solidFill>
                <a:latin typeface="Calibri"/>
              </a:rPr>
              <a:t>Cost Trajectory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Foundation model inference costs have dropped 97% since 2020. The ROI threshold for deployment has crossed into unambiguously positive territory.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30352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303520" cy="381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673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00"/>
                </a:solidFill>
                <a:latin typeface="Calibri"/>
              </a:rPr>
              <a:t>Talent &amp;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  <a:latin typeface="Calibri"/>
              </a:rPr>
              <a:t>Cloud-native MLOps platforms have matured. Deployment risk is lower today than at any prior point. Internal engineering teams can execute without greenfield 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30-Month Deployment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Three phases, three domains, one integrated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0972800" cy="73152"/>
          </a:xfrm>
          <a:prstGeom prst="rect">
            <a:avLst/>
          </a:prstGeom>
          <a:solidFill>
            <a:srgbClr val="7A8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93392" y="2103120"/>
            <a:ext cx="219456" cy="21945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33872" y="2103120"/>
            <a:ext cx="219456" cy="21945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74352" y="2103120"/>
            <a:ext cx="219456" cy="21945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474720"/>
            <a:ext cx="3383280" cy="2743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3383280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58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BAA"/>
                </a:solidFill>
                <a:latin typeface="Calibri"/>
              </a:rPr>
              <a:t>Q1-Q4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474720"/>
            <a:ext cx="3383280" cy="2743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474720"/>
            <a:ext cx="3383280" cy="50800"/>
          </a:xfrm>
          <a:prstGeom prst="rect">
            <a:avLst/>
          </a:prstGeom>
          <a:solidFill>
            <a:srgbClr val="00C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94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858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BAA"/>
                </a:solidFill>
                <a:latin typeface="Calibri"/>
              </a:rPr>
              <a:t>Q1-Q4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474720"/>
            <a:ext cx="3383280" cy="2743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474720"/>
            <a:ext cx="3383280" cy="508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858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BAA"/>
                </a:solidFill>
                <a:latin typeface="Calibri"/>
              </a:rPr>
              <a:t>Q1-Q2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Fraud Detection ML model (XGBoost)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62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Whisper + LLM call transcript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73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Model governance framework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84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Baseline metrics and A/B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Customer service LLM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562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AI-augmented credit decisioning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873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Real-time inference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184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Compliance model audit trails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Unified AI decision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562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Cross-product personalization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873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Autonomous fraud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5184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  <a:latin typeface="Calibri"/>
              </a:rPr>
              <a:t>- Board-level AI governance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1: Fraud Detection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2025  |  60-85% reduction in false positives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6858000" cy="5394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0800" cy="53949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0C294"/>
                </a:solidFill>
                <a:latin typeface="Calibri"/>
              </a:rPr>
              <a:t>Problem Statement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Legacy rule-based fraud systems generate high false positive rates (15-22%), creating $47M in annual customer friction costs, 680K wrongly declined transactions per year, and 12% card abandonment rates. Real-time fraud is evolving faster than rule updates.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00C294"/>
                </a:solidFill>
                <a:latin typeface="Calibri"/>
              </a:rPr>
              <a:t>Solution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Deploy gradient boosted ensemble model (XGBoost + neural network) trained on 24 months of transaction history. Real-time inference at &lt;50ms latency via dedicated inference cluster. Shadow deployment for 60 days before full cutover.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00C294"/>
                </a:solidFill>
                <a:latin typeface="Calibri"/>
              </a:rPr>
              <a:t>Governance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SR 11-7 compliant model risk framework. Monthly challenger testing. Quarterly recalibration cadence. Bias audit on protected class variables.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39" y="129844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60-85%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vs. legacy 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057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False Positive Reduction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74320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39" y="285292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680K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3832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transactions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Wrongly Declined (Avoided)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29768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440740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$47M+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49377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friction cost avoidance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5166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Estimated Annual Savings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2: Customer Service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2026  |  44% contact center deflection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6858000" cy="5394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0800" cy="5394960"/>
          </a:xfrm>
          <a:prstGeom prst="rect">
            <a:avLst/>
          </a:prstGeom>
          <a:solidFill>
            <a:srgbClr val="00C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0C294"/>
                </a:solidFill>
                <a:latin typeface="Calibri"/>
              </a:rPr>
              <a:t>Deployment Model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LLM-powered conversational AI integrated with core banking APIs. Handles balance inquiries, dispute initiation, product questions, and account servicing. Human escalation path preserved for complex cases. Available 24/7 with &lt;2s response time.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00C294"/>
                </a:solidFill>
                <a:latin typeface="Calibri"/>
              </a:rPr>
              <a:t>Performance Baseline (GEMMA Research)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Validated 44% deflection rate across 12 comparable institutions. Customer satisfaction (CSAT) maintained at parity or above (4.1/5.0 average) when AI handles routine queries. Net Promoter Score impact: neutral to positive.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00C294"/>
                </a:solidFill>
                <a:latin typeface="Calibri"/>
              </a:rPr>
              <a:t>Cost Impact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At current contact center volume of 2.4M calls/year, 44% deflection translates to 1.05M fewer handled calls. At $8.50 average cost-per-call, gross savings of $8.9M annually before platform costs.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39" y="129844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validated across 12 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057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Contact Deflection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74320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39" y="285292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1.05M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3832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at current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Annual Calls Deflected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29768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440740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$8.9M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49377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before platform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5166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Gross Annual Savings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2: AI-Augmented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2026  |  89% accuracy vs 72% FICO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6858000" cy="5394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0800" cy="53949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The Accuracy Gap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FICO-only credit decisioning achieves 72% accuracy on 12-month default prediction. AI models incorporating behavioral, transactional, and alternative data sources achieve 89% accuracy on the same cohort - a 17 percentage point lift that directly translates to lower charge-off rates and expanded addressable market.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Implementation Approach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Model runs in parallel with FICO for 6 months. Override protocols defined. ECOA/FCRA compliance review completed before any autonomous decisioning. Waterfall: AI recommends, human approves above $250K for 12 months.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Revenue Impact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D0D8E8"/>
                </a:solidFill>
                <a:latin typeface="Calibri"/>
              </a:rPr>
              <a:t>Improved accuracy enables portfolio expansion into currently declined-but-creditworthy segment (est. 8-12% of current declines). Conservative 5% expansion scenario adds $38M in new loan origination annually.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39" y="129844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89%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8288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12-month default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057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AI Model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74320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39" y="285292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3832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+17 point accuracy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611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FICO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297680"/>
            <a:ext cx="4114800" cy="1417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440740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AFF"/>
                </a:solidFill>
                <a:latin typeface="Calibri"/>
              </a:rPr>
              <a:t>$38M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49377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94"/>
                </a:solidFill>
                <a:latin typeface="Calibri"/>
              </a:rPr>
              <a:t>conservative 5%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5166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D8E8"/>
                </a:solidFill>
                <a:latin typeface="Calibri"/>
              </a:rPr>
              <a:t>New Origination Opportunity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Financial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2.3x ROI with 13-month payback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94"/>
                </a:solidFill>
                <a:latin typeface="Calibri"/>
              </a:rPr>
              <a:t>Total Program Investment: $22M over 30 months    |    Total Identified Value: $51M+    |    Net ROI: 2.3x    |    Payback: 13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4069080" cy="50292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94"/>
                </a:solidFill>
                <a:latin typeface="Calibri"/>
              </a:rPr>
              <a:t>Value 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423160"/>
            <a:ext cx="2057400" cy="50292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94"/>
                </a:solidFill>
                <a:latin typeface="Calibri"/>
              </a:rPr>
              <a:t>Annual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423160"/>
            <a:ext cx="2057400" cy="50292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514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94"/>
                </a:solidFill>
                <a:latin typeface="Calibri"/>
              </a:rPr>
              <a:t>3-Year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423160"/>
            <a:ext cx="2240280" cy="50292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514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94"/>
                </a:solidFill>
                <a:latin typeface="Calibri"/>
              </a:rPr>
              <a:t>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406908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Fraud false positive reduction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926080"/>
            <a:ext cx="205740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017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$47M+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926080"/>
            <a:ext cx="205740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017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$141M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2926080"/>
            <a:ext cx="224028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017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40690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20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Contact center deflection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429000"/>
            <a:ext cx="2057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$8.9M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429000"/>
            <a:ext cx="2057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$26.7M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3429000"/>
            <a:ext cx="22402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520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31920"/>
            <a:ext cx="406908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0233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Lending accuracy improvement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3931920"/>
            <a:ext cx="205740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023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$38M (yr 2+)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931920"/>
            <a:ext cx="205740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023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$76M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3931920"/>
            <a:ext cx="2240280" cy="502920"/>
          </a:xfrm>
          <a:prstGeom prst="rect">
            <a:avLst/>
          </a:prstGeom>
          <a:solidFill>
            <a:srgbClr val="10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4023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34840"/>
            <a:ext cx="40690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526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Operational efficiency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26280" y="4434840"/>
            <a:ext cx="2057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$4.2M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4434840"/>
            <a:ext cx="20574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45262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AFF"/>
                </a:solidFill>
                <a:latin typeface="Calibri"/>
              </a:rPr>
              <a:t>$12.6M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4434840"/>
            <a:ext cx="22402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5400" y="4526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37760"/>
            <a:ext cx="4069080" cy="502920"/>
          </a:xfrm>
          <a:prstGeom prst="rect">
            <a:avLst/>
          </a:prstGeom>
          <a:solidFill>
            <a:srgbClr val="0D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029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Calibri"/>
              </a:rPr>
              <a:t>Total Identified Value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4937760"/>
            <a:ext cx="2057400" cy="502920"/>
          </a:xfrm>
          <a:prstGeom prst="rect">
            <a:avLst/>
          </a:prstGeom>
          <a:solidFill>
            <a:srgbClr val="0D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5029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Calibri"/>
              </a:rPr>
              <a:t>$98M+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937760"/>
            <a:ext cx="2057400" cy="502920"/>
          </a:xfrm>
          <a:prstGeom prst="rect">
            <a:avLst/>
          </a:prstGeom>
          <a:solidFill>
            <a:srgbClr val="0D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5029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Calibri"/>
              </a:rPr>
              <a:t>$256M+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4937760"/>
            <a:ext cx="2240280" cy="502920"/>
          </a:xfrm>
          <a:prstGeom prst="rect">
            <a:avLst/>
          </a:prstGeom>
          <a:solidFill>
            <a:srgbClr val="0D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5400" y="5029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Calibr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8BAA"/>
                </a:solidFill>
                <a:latin typeface="Calibri"/>
              </a:rPr>
              <a:t>Note: Values based on GEMMA research benchmarks and internal volume data. Lending value reflects Year 2 onward; conservative scenario applied.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 Management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Controls, compliance, and model oversight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3500" cy="10058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alibri"/>
              </a:rPr>
              <a:t>Model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Mitigation: SR 11-7 model validation for all decision models. Independent review by Model Risk Management before production. Quarterly recalibration. Champion/challenger testing at all times.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63500" cy="10058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00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Mitigation: ECOA/FCRA/UDAAP review integrated into lending model pipeline. AI Act compliance tracked for EU data. Examiner-ready documentation maintained for all models in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63500" cy="10058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Calibri"/>
              </a:rPr>
              <a:t>Operational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Mitigation: Phased deployment with shadow mode. Rollback capability within 4 hours. Human override maintained for all high-stakes decisions. Incident response playbook defined pre-deployment.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63500" cy="1005840"/>
          </a:xfrm>
          <a:prstGeom prst="rect">
            <a:avLst/>
          </a:prstGeom>
          <a:solidFill>
            <a:srgbClr val="00C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94"/>
                </a:solidFill>
                <a:latin typeface="Calibri"/>
              </a:rPr>
              <a:t>Data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749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Mitigation: Privacy-by-design architecture. PII handling per CCPA/GDPR. Model training data anonymization. Third-party vendor SOC 2 Type II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08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94"/>
                </a:solidFill>
                <a:latin typeface="Calibri"/>
              </a:rPr>
              <a:t>Decisions required and immediate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3716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FF"/>
                </a:solidFill>
                <a:latin typeface="Calibri"/>
              </a:rPr>
              <a:t>Q1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188720"/>
            <a:ext cx="9692640" cy="868680"/>
          </a:xfrm>
          <a:prstGeom prst="rect">
            <a:avLst/>
          </a:prstGeom>
          <a:solidFill>
            <a:srgbClr val="1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234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  <a:latin typeface="Calibri"/>
              </a:rPr>
              <a:t>Board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536192"/>
            <a:ext cx="9326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Approve $22M program budget and 30-month roadmap. Authorize CTO + Chief Risk Officer joint governance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3716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FF"/>
                </a:solidFill>
                <a:latin typeface="Calibri"/>
              </a:rPr>
              <a:t>Q1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94560"/>
            <a:ext cx="9692640" cy="868680"/>
          </a:xfrm>
          <a:prstGeom prst="rect">
            <a:avLst/>
          </a:prstGeom>
          <a:solidFill>
            <a:srgbClr val="1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2402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  <a:latin typeface="Calibri"/>
              </a:rPr>
              <a:t>Vendor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542032"/>
            <a:ext cx="9326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Evaluate and select ML platform vendor (shortlist: Databricks, SageMaker, Azure ML). Issue RFP by Jan 31.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13716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46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FF"/>
                </a:solidFill>
                <a:latin typeface="Calibri"/>
              </a:rPr>
              <a:t>Q1-Q2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200400"/>
            <a:ext cx="9692640" cy="868680"/>
          </a:xfrm>
          <a:prstGeom prst="rect">
            <a:avLst/>
          </a:prstGeom>
          <a:solidFill>
            <a:srgbClr val="1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32461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  <a:latin typeface="Calibri"/>
              </a:rPr>
              <a:t>Talent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547872"/>
            <a:ext cx="9326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Hire 4 ML engineers, 1 ML platform lead, 1 AI governance officer. Negotiate preferred provider agreement with specialist staffing firm.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13716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251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FF"/>
                </a:solidFill>
                <a:latin typeface="Calibri"/>
              </a:rPr>
              <a:t>Q2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206240"/>
            <a:ext cx="9692640" cy="868680"/>
          </a:xfrm>
          <a:prstGeom prst="rect">
            <a:avLst/>
          </a:prstGeom>
          <a:solidFill>
            <a:srgbClr val="1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4251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  <a:latin typeface="Calibri"/>
              </a:rPr>
              <a:t>Phase 1 Kickoff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553712"/>
            <a:ext cx="9326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Fraud detection model development sprint begins. Data extraction and feature engineering underway. Shadow mode target: Q3 2025.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12080"/>
            <a:ext cx="13716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FF"/>
                </a:solidFill>
                <a:latin typeface="Calibri"/>
              </a:rPr>
              <a:t>Q2 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5212080"/>
            <a:ext cx="9692640" cy="868680"/>
          </a:xfrm>
          <a:prstGeom prst="rect">
            <a:avLst/>
          </a:prstGeom>
          <a:solidFill>
            <a:srgbClr val="10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52578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  <a:latin typeface="Calibri"/>
              </a:rPr>
              <a:t>Governance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559552"/>
            <a:ext cx="9326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  <a:latin typeface="Calibri"/>
              </a:rPr>
              <a:t>Model Risk Management charter updated. Board AI Committee charter drafted. First quarterly AI risk report delivered.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